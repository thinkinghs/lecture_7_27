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1059210" cy="447675"/>
          </a:xfrm>
          <a:prstGeom prst="rect">
            <a:avLst/>
          </a:prstGeom>
          <a:solidFill>
            <a:srgbClr val="E05A1A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819150"/>
            <a:ext cx="7544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KISTI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164110" y="819150"/>
            <a:ext cx="253781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데이터인사이트 | 제63호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2503140"/>
            <a:ext cx="1687449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3E8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제1장 — 전 세계적 고령화와 한국의 고령화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52500" y="3122265"/>
            <a:ext cx="12361545" cy="16183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고령화 이슈에 대한 R&amp;D 관점에서의 문제인식 및 해결방안</a:t>
            </a:r>
            <a:endParaRPr lang="en-US" sz="5100" dirty="0"/>
          </a:p>
        </p:txBody>
      </p:sp>
      <p:sp>
        <p:nvSpPr>
          <p:cNvPr id="7" name="Shape 5"/>
          <p:cNvSpPr/>
          <p:nvPr/>
        </p:nvSpPr>
        <p:spPr>
          <a:xfrm>
            <a:off x="952500" y="5197822"/>
            <a:ext cx="10477500" cy="2557314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52500" y="5197822"/>
            <a:ext cx="38100" cy="2557314"/>
          </a:xfrm>
          <a:prstGeom prst="rect">
            <a:avLst/>
          </a:prstGeom>
          <a:solidFill>
            <a:srgbClr val="E05A1A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5502622"/>
            <a:ext cx="996772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GOVERNING MESSAGE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5969347"/>
            <a:ext cx="9967722" cy="1519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8000"/>
              </a:lnSpc>
              <a:buNone/>
            </a:pPr>
            <a:r>
              <a:rPr lang="en-US" sz="2100" dirty="0">
                <a:solidFill>
                  <a:srgbClr val="D4D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한국의 고령화는 세계 평균보다 빠르고, 단순한 인구 증가가 아니라 </a:t>
            </a:r>
            <a:pPr algn="l" indent="0" marL="0">
              <a:lnSpc>
                <a:spcPct val="17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건강·부양·재정·노동의 복합 위기 </a:t>
            </a:r>
            <a:pPr algn="l" indent="0" marL="0">
              <a:lnSpc>
                <a:spcPct val="178000"/>
              </a:lnSpc>
              <a:buNone/>
            </a:pPr>
            <a:r>
              <a:rPr lang="en-US" sz="2100" dirty="0">
                <a:solidFill>
                  <a:srgbClr val="D4D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이므로, R&amp;D와 정책을 분절 대응이 아닌 </a:t>
            </a:r>
            <a:pPr algn="l" indent="0" marL="0">
              <a:lnSpc>
                <a:spcPct val="178000"/>
              </a:lnSpc>
              <a:buNone/>
            </a:pPr>
            <a:r>
              <a:rPr lang="en-US" sz="2100" b="1" dirty="0">
                <a:solidFill>
                  <a:srgbClr val="F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전환 관점</a:t>
            </a:r>
            <a:pPr algn="l" indent="0" marL="0">
              <a:lnSpc>
                <a:spcPct val="178000"/>
              </a:lnSpc>
              <a:buNone/>
            </a:pPr>
            <a:r>
              <a:rPr lang="en-US" sz="2100" dirty="0">
                <a:solidFill>
                  <a:srgbClr val="D4D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에서 설계해야 한다.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52500" y="9048750"/>
            <a:ext cx="163830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52500" y="9267825"/>
            <a:ext cx="279407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박완 · 심위 · 신현호 · 이재민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31890" y="9301163"/>
            <a:ext cx="13558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257973" y="9301163"/>
            <a:ext cx="141089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2025. 12. 31.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647700"/>
            <a:ext cx="592931" cy="409575"/>
          </a:xfrm>
          <a:prstGeom prst="rect">
            <a:avLst/>
          </a:prstGeom>
          <a:solidFill>
            <a:srgbClr val="0B1F3E"/>
          </a:solidFill>
          <a:ln/>
        </p:spPr>
      </p:sp>
      <p:sp>
        <p:nvSpPr>
          <p:cNvPr id="3" name="Text 1"/>
          <p:cNvSpPr/>
          <p:nvPr/>
        </p:nvSpPr>
        <p:spPr>
          <a:xfrm>
            <a:off x="1104900" y="685800"/>
            <a:ext cx="36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78781" y="685800"/>
            <a:ext cx="194935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세계 고령화 현황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1304925"/>
            <a:ext cx="1687449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750" b="1" dirty="0">
                <a:solidFill>
                  <a:srgbClr val="0B1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세계 고령화는 이미 </a:t>
            </a:r>
            <a:pPr algn="l" indent="0" marL="0">
              <a:lnSpc>
                <a:spcPct val="130000"/>
              </a:lnSpc>
              <a:buNone/>
            </a:pPr>
            <a:r>
              <a:rPr lang="en-US" sz="3750" b="1" dirty="0">
                <a:solidFill>
                  <a:srgbClr val="1B5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"예외적 현상"</a:t>
            </a:r>
            <a:pPr algn="l" indent="0" marL="0">
              <a:lnSpc>
                <a:spcPct val="130000"/>
              </a:lnSpc>
              <a:buNone/>
            </a:pPr>
            <a:r>
              <a:rPr lang="en-US" sz="3750" b="1" dirty="0">
                <a:solidFill>
                  <a:srgbClr val="0B1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아니라 </a:t>
            </a:r>
            <a:pPr algn="l" indent="0" marL="0">
              <a:lnSpc>
                <a:spcPct val="130000"/>
              </a:lnSpc>
              <a:buNone/>
            </a:pPr>
            <a:r>
              <a:rPr lang="en-US" sz="3750" b="1" dirty="0">
                <a:solidFill>
                  <a:srgbClr val="1B5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구조적 전환</a:t>
            </a:r>
            <a:pPr algn="l" indent="0" marL="0">
              <a:lnSpc>
                <a:spcPct val="130000"/>
              </a:lnSpc>
              <a:buNone/>
            </a:pPr>
            <a:r>
              <a:rPr lang="en-US" sz="3750" b="1" dirty="0">
                <a:solidFill>
                  <a:srgbClr val="0B1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이다</a:t>
            </a:r>
            <a:endParaRPr lang="en-US" sz="3750" dirty="0"/>
          </a:p>
        </p:txBody>
      </p:sp>
      <p:sp>
        <p:nvSpPr>
          <p:cNvPr id="6" name="Shape 4"/>
          <p:cNvSpPr/>
          <p:nvPr/>
        </p:nvSpPr>
        <p:spPr>
          <a:xfrm>
            <a:off x="952500" y="2266950"/>
            <a:ext cx="9753600" cy="14506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52500" y="2266950"/>
            <a:ext cx="47625" cy="1450628"/>
          </a:xfrm>
          <a:prstGeom prst="rect">
            <a:avLst/>
          </a:prstGeom>
          <a:solidFill>
            <a:srgbClr val="E05A1A"/>
          </a:solidFill>
          <a:ln/>
        </p:spPr>
      </p:sp>
      <p:sp>
        <p:nvSpPr>
          <p:cNvPr id="8" name="Text 6"/>
          <p:cNvSpPr/>
          <p:nvPr/>
        </p:nvSpPr>
        <p:spPr>
          <a:xfrm>
            <a:off x="1266825" y="2495550"/>
            <a:ext cx="944775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E0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22억명</a:t>
            </a:r>
            <a:endParaRPr lang="en-US" sz="4050" dirty="0"/>
          </a:p>
        </p:txBody>
      </p:sp>
      <p:sp>
        <p:nvSpPr>
          <p:cNvPr id="9" name="Text 7"/>
          <p:cNvSpPr/>
          <p:nvPr/>
        </p:nvSpPr>
        <p:spPr>
          <a:xfrm>
            <a:off x="1266825" y="3105150"/>
            <a:ext cx="9447752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D4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2070년대 후반 전 세계 65세 이상 인구 — 18세 미만 아동 수를 초과할 전망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2500" y="3927128"/>
            <a:ext cx="9753600" cy="14506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52500" y="3927128"/>
            <a:ext cx="47625" cy="1450628"/>
          </a:xfrm>
          <a:prstGeom prst="rect">
            <a:avLst/>
          </a:prstGeom>
          <a:solidFill>
            <a:srgbClr val="1B5FA6"/>
          </a:solidFill>
          <a:ln/>
        </p:spPr>
      </p:sp>
      <p:sp>
        <p:nvSpPr>
          <p:cNvPr id="12" name="Text 10"/>
          <p:cNvSpPr/>
          <p:nvPr/>
        </p:nvSpPr>
        <p:spPr>
          <a:xfrm>
            <a:off x="1266825" y="4155728"/>
            <a:ext cx="944775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1B5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2080년대 중반</a:t>
            </a:r>
            <a:endParaRPr lang="en-US" sz="4050" dirty="0"/>
          </a:p>
        </p:txBody>
      </p:sp>
      <p:sp>
        <p:nvSpPr>
          <p:cNvPr id="13" name="Text 11"/>
          <p:cNvSpPr/>
          <p:nvPr/>
        </p:nvSpPr>
        <p:spPr>
          <a:xfrm>
            <a:off x="1266825" y="4765328"/>
            <a:ext cx="9447752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D4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80세 이상 인구(2억 6,500만)가 유아보다 많아질 것으로 전망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(UN 2024)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52500" y="5587305"/>
            <a:ext cx="9753600" cy="14506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52500" y="5587305"/>
            <a:ext cx="47625" cy="1450628"/>
          </a:xfrm>
          <a:prstGeom prst="rect">
            <a:avLst/>
          </a:prstGeom>
          <a:solidFill>
            <a:srgbClr val="F4A830"/>
          </a:solidFill>
          <a:ln/>
        </p:spPr>
      </p:sp>
      <p:sp>
        <p:nvSpPr>
          <p:cNvPr id="16" name="Text 14"/>
          <p:cNvSpPr/>
          <p:nvPr/>
        </p:nvSpPr>
        <p:spPr>
          <a:xfrm>
            <a:off x="1266825" y="5815905"/>
            <a:ext cx="944775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63개국 </a:t>
            </a:r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(전 세계 28%)</a:t>
            </a:r>
            <a:endParaRPr lang="en-US" sz="4050" dirty="0"/>
          </a:p>
        </p:txBody>
      </p:sp>
      <p:sp>
        <p:nvSpPr>
          <p:cNvPr id="17" name="Text 15"/>
          <p:cNvSpPr/>
          <p:nvPr/>
        </p:nvSpPr>
        <p:spPr>
          <a:xfrm>
            <a:off x="1266825" y="6425505"/>
            <a:ext cx="9447752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D4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 인구 정점을 통과 — 중국, 독일, 일본, 러시아 포함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1239500" y="2266950"/>
            <a:ext cx="6096000" cy="340042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525250" y="2533650"/>
            <a:ext cx="569023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세계 인구 구조 재편 시나리오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1525250" y="3076575"/>
            <a:ext cx="66407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2227421" y="3114675"/>
            <a:ext cx="355486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D4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63개국 — 인구 정점 통과, 감소 진행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525250" y="3514725"/>
            <a:ext cx="1546771" cy="247650"/>
          </a:xfrm>
          <a:prstGeom prst="roundRect">
            <a:avLst>
              <a:gd name="adj" fmla="val 7692"/>
            </a:avLst>
          </a:prstGeom>
          <a:solidFill>
            <a:srgbClr val="0B1F3E"/>
          </a:solidFill>
          <a:ln/>
        </p:spPr>
      </p:sp>
      <p:sp>
        <p:nvSpPr>
          <p:cNvPr id="23" name="Text 21"/>
          <p:cNvSpPr/>
          <p:nvPr/>
        </p:nvSpPr>
        <p:spPr>
          <a:xfrm>
            <a:off x="11525250" y="3895725"/>
            <a:ext cx="66407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5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2227421" y="3933825"/>
            <a:ext cx="323248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D4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48개국 — 2054년까지 정점 도달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1525250" y="4333875"/>
            <a:ext cx="552450" cy="247650"/>
          </a:xfrm>
          <a:prstGeom prst="roundRect">
            <a:avLst>
              <a:gd name="adj" fmla="val 7692"/>
            </a:avLst>
          </a:prstGeom>
          <a:solidFill>
            <a:srgbClr val="1B5FA6"/>
          </a:solidFill>
          <a:ln/>
        </p:spPr>
      </p:sp>
      <p:sp>
        <p:nvSpPr>
          <p:cNvPr id="26" name="Text 24"/>
          <p:cNvSpPr/>
          <p:nvPr/>
        </p:nvSpPr>
        <p:spPr>
          <a:xfrm>
            <a:off x="11525250" y="4714875"/>
            <a:ext cx="66407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E8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2227421" y="4752975"/>
            <a:ext cx="336340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D4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126개국 — 2054년까지 계속 성장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1525250" y="5153025"/>
            <a:ext cx="3425130" cy="247650"/>
          </a:xfrm>
          <a:prstGeom prst="roundRect">
            <a:avLst>
              <a:gd name="adj" fmla="val 7692"/>
            </a:avLst>
          </a:prstGeom>
          <a:solidFill>
            <a:srgbClr val="3E8EC4"/>
          </a:solidFill>
          <a:ln/>
        </p:spPr>
      </p:sp>
      <p:sp>
        <p:nvSpPr>
          <p:cNvPr id="29" name="Shape 27"/>
          <p:cNvSpPr/>
          <p:nvPr/>
        </p:nvSpPr>
        <p:spPr>
          <a:xfrm>
            <a:off x="11239500" y="5895975"/>
            <a:ext cx="6096000" cy="280987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1525250" y="6162675"/>
            <a:ext cx="569023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국제 고령사회 분류 기준 (65세 이상 비중)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11525250" y="6686550"/>
            <a:ext cx="1828800" cy="1304925"/>
          </a:xfrm>
          <a:prstGeom prst="rect">
            <a:avLst/>
          </a:prstGeom>
          <a:solidFill>
            <a:srgbClr val="E8EFF8"/>
          </a:solidFill>
          <a:ln/>
        </p:spPr>
      </p:sp>
      <p:sp>
        <p:nvSpPr>
          <p:cNvPr id="32" name="Text 30"/>
          <p:cNvSpPr/>
          <p:nvPr/>
        </p:nvSpPr>
        <p:spPr>
          <a:xfrm>
            <a:off x="11582400" y="6858000"/>
            <a:ext cx="171450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1B5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3150" dirty="0"/>
          </a:p>
        </p:txBody>
      </p:sp>
      <p:sp>
        <p:nvSpPr>
          <p:cNvPr id="33" name="Text 31"/>
          <p:cNvSpPr/>
          <p:nvPr/>
        </p:nvSpPr>
        <p:spPr>
          <a:xfrm>
            <a:off x="11582400" y="7486650"/>
            <a:ext cx="17145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D4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고령화 사회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3354050" y="6686550"/>
            <a:ext cx="19050" cy="1304925"/>
          </a:xfrm>
          <a:prstGeom prst="rect">
            <a:avLst/>
          </a:prstGeom>
          <a:solidFill>
            <a:srgbClr val="D0D8E8"/>
          </a:solidFill>
          <a:ln/>
        </p:spPr>
      </p:sp>
      <p:sp>
        <p:nvSpPr>
          <p:cNvPr id="35" name="Shape 33"/>
          <p:cNvSpPr/>
          <p:nvPr/>
        </p:nvSpPr>
        <p:spPr>
          <a:xfrm>
            <a:off x="13373100" y="6686550"/>
            <a:ext cx="1828800" cy="1304925"/>
          </a:xfrm>
          <a:prstGeom prst="rect">
            <a:avLst/>
          </a:prstGeom>
          <a:solidFill>
            <a:srgbClr val="CDDCF4"/>
          </a:solidFill>
          <a:ln/>
        </p:spPr>
      </p:sp>
      <p:sp>
        <p:nvSpPr>
          <p:cNvPr id="36" name="Text 34"/>
          <p:cNvSpPr/>
          <p:nvPr/>
        </p:nvSpPr>
        <p:spPr>
          <a:xfrm>
            <a:off x="13430250" y="6858000"/>
            <a:ext cx="171450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0B4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3150" dirty="0"/>
          </a:p>
        </p:txBody>
      </p:sp>
      <p:sp>
        <p:nvSpPr>
          <p:cNvPr id="37" name="Text 35"/>
          <p:cNvSpPr/>
          <p:nvPr/>
        </p:nvSpPr>
        <p:spPr>
          <a:xfrm>
            <a:off x="13430250" y="7486650"/>
            <a:ext cx="17145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D4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고령사회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5201900" y="6686550"/>
            <a:ext cx="19050" cy="1304925"/>
          </a:xfrm>
          <a:prstGeom prst="rect">
            <a:avLst/>
          </a:prstGeom>
          <a:solidFill>
            <a:srgbClr val="D0D8E8"/>
          </a:solidFill>
          <a:ln/>
        </p:spPr>
      </p:sp>
      <p:sp>
        <p:nvSpPr>
          <p:cNvPr id="39" name="Shape 37"/>
          <p:cNvSpPr/>
          <p:nvPr/>
        </p:nvSpPr>
        <p:spPr>
          <a:xfrm>
            <a:off x="15220950" y="6686550"/>
            <a:ext cx="1828800" cy="1304925"/>
          </a:xfrm>
          <a:prstGeom prst="rect">
            <a:avLst/>
          </a:prstGeom>
          <a:solidFill>
            <a:srgbClr val="0B1F3E"/>
          </a:solidFill>
          <a:ln/>
        </p:spPr>
      </p:sp>
      <p:sp>
        <p:nvSpPr>
          <p:cNvPr id="40" name="Text 38"/>
          <p:cNvSpPr/>
          <p:nvPr/>
        </p:nvSpPr>
        <p:spPr>
          <a:xfrm>
            <a:off x="15278100" y="6858000"/>
            <a:ext cx="171450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3150" dirty="0"/>
          </a:p>
        </p:txBody>
      </p:sp>
      <p:sp>
        <p:nvSpPr>
          <p:cNvPr id="41" name="Text 39"/>
          <p:cNvSpPr/>
          <p:nvPr/>
        </p:nvSpPr>
        <p:spPr>
          <a:xfrm>
            <a:off x="15278100" y="7486650"/>
            <a:ext cx="17145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초고령사회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1525250" y="8105775"/>
            <a:ext cx="569023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UN 2024 World Population Prospects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647700"/>
            <a:ext cx="592931" cy="40957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04900" y="685800"/>
            <a:ext cx="36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78781" y="685800"/>
            <a:ext cx="20960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동아시아 고령화 패턴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1304925"/>
            <a:ext cx="1687449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동아시아의 고령화는 </a:t>
            </a:r>
            <a:pPr algn="l" indent="0" marL="0">
              <a:lnSpc>
                <a:spcPct val="130000"/>
              </a:lnSpc>
              <a:buNone/>
            </a:pPr>
            <a:r>
              <a:rPr lang="en-US" sz="3750" b="1" dirty="0">
                <a:solidFill>
                  <a:srgbClr val="3E8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'느린 확산'</a:t>
            </a:r>
            <a:pPr algn="l" indent="0" marL="0">
              <a:lnSpc>
                <a:spcPct val="13000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아니라 </a:t>
            </a:r>
            <a:pPr algn="l" indent="0" marL="0">
              <a:lnSpc>
                <a:spcPct val="130000"/>
              </a:lnSpc>
              <a:buNone/>
            </a:pPr>
            <a:r>
              <a:rPr lang="en-US" sz="3750" b="1" dirty="0">
                <a:solidFill>
                  <a:srgbClr val="F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'압축형 급진전'</a:t>
            </a:r>
            <a:pPr algn="l" indent="0" marL="0">
              <a:lnSpc>
                <a:spcPct val="13000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이다</a:t>
            </a:r>
            <a:endParaRPr lang="en-US" sz="3750" dirty="0"/>
          </a:p>
        </p:txBody>
      </p:sp>
      <p:sp>
        <p:nvSpPr>
          <p:cNvPr id="6" name="Shape 4"/>
          <p:cNvSpPr/>
          <p:nvPr/>
        </p:nvSpPr>
        <p:spPr>
          <a:xfrm>
            <a:off x="952500" y="2305050"/>
            <a:ext cx="342900" cy="342900"/>
          </a:xfrm>
          <a:prstGeom prst="ellipse">
            <a:avLst/>
          </a:prstGeom>
          <a:solidFill>
            <a:srgbClr val="3E8EC4"/>
          </a:solidFill>
          <a:ln/>
        </p:spPr>
      </p:sp>
      <p:sp>
        <p:nvSpPr>
          <p:cNvPr id="7" name="Shape 5"/>
          <p:cNvSpPr/>
          <p:nvPr/>
        </p:nvSpPr>
        <p:spPr>
          <a:xfrm>
            <a:off x="1081088" y="2433638"/>
            <a:ext cx="85725" cy="8572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466850" y="2266950"/>
            <a:ext cx="9045512" cy="9465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서구권(미국·EU)</a:t>
            </a:r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D4D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은 장기간에 걸친 </a:t>
            </a:r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A0C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완만한 고령화 </a:t>
            </a:r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D4D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사회 전반의 적응 시간이 충분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52500" y="3442097"/>
            <a:ext cx="342900" cy="342900"/>
          </a:xfrm>
          <a:prstGeom prst="ellipse">
            <a:avLst/>
          </a:prstGeom>
          <a:solidFill>
            <a:srgbClr val="F4A830"/>
          </a:solidFill>
          <a:ln/>
        </p:spPr>
      </p:sp>
      <p:sp>
        <p:nvSpPr>
          <p:cNvPr id="10" name="Shape 8"/>
          <p:cNvSpPr/>
          <p:nvPr/>
        </p:nvSpPr>
        <p:spPr>
          <a:xfrm>
            <a:off x="1081088" y="3570684"/>
            <a:ext cx="85725" cy="85725"/>
          </a:xfrm>
          <a:prstGeom prst="ellipse">
            <a:avLst/>
          </a:prstGeom>
          <a:solidFill>
            <a:srgbClr val="0B1F3E"/>
          </a:solidFill>
          <a:ln/>
        </p:spPr>
      </p:sp>
      <p:sp>
        <p:nvSpPr>
          <p:cNvPr id="11" name="Text 9"/>
          <p:cNvSpPr/>
          <p:nvPr/>
        </p:nvSpPr>
        <p:spPr>
          <a:xfrm>
            <a:off x="1466850" y="3403997"/>
            <a:ext cx="9045512" cy="9465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동아시아(한국·중국·일본·대만)</a:t>
            </a:r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D4D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는 단기간 </a:t>
            </a:r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F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압축형 고령화 </a:t>
            </a:r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D4D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의료·돌봄·연금·노동 전반에 구조적 압력 급증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52500" y="4579144"/>
            <a:ext cx="342900" cy="342900"/>
          </a:xfrm>
          <a:prstGeom prst="ellipse">
            <a:avLst/>
          </a:prstGeom>
          <a:solidFill>
            <a:srgbClr val="E05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1081088" y="4707731"/>
            <a:ext cx="85725" cy="8572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466850" y="4541044"/>
            <a:ext cx="9045512" cy="975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D4D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한·중·대만은 일본보다 </a:t>
            </a:r>
            <a:pPr algn="l" indent="0" marL="0">
              <a:lnSpc>
                <a:spcPct val="16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15~20년 늦게 </a:t>
            </a:r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D4D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시작했으나 더 짧은 시간 안에 동일 경로를 추격 — </a:t>
            </a:r>
            <a:pPr algn="l" indent="0" marL="0">
              <a:lnSpc>
                <a:spcPct val="165000"/>
              </a:lnSpc>
              <a:buNone/>
            </a:pPr>
            <a:r>
              <a:rPr lang="en-US" sz="2100" b="1" dirty="0">
                <a:solidFill>
                  <a:srgbClr val="E0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 해결할 시간이 없다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52500" y="5782866"/>
            <a:ext cx="9296400" cy="1981200"/>
          </a:xfrm>
          <a:prstGeom prst="rect">
            <a:avLst/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8725" y="6020991"/>
            <a:ext cx="900626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비교 — 고령화 사회(7%) → 초고령 사회(21%) 소요 기간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90625" y="6487716"/>
            <a:ext cx="1856929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E8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36년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190625" y="7192566"/>
            <a:ext cx="185692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(1970–2006)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76154" y="6787753"/>
            <a:ext cx="36314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791694" y="6487716"/>
            <a:ext cx="1856929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0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25년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3791694" y="7192566"/>
            <a:ext cx="185692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(2000–2025)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877223" y="6631632"/>
            <a:ext cx="9525" cy="750391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115348" y="6631632"/>
            <a:ext cx="2508885" cy="788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B8C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일본보다 </a:t>
            </a:r>
            <a:pPr algn="l"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E0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11년 더 빠른 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B8C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초고령 사회 진입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858500" y="2266950"/>
            <a:ext cx="66713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국가별 초고령사회 도달 소요 연수 비교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782300" y="2833688"/>
            <a:ext cx="9906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독일/EU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1925300" y="2809875"/>
            <a:ext cx="3885009" cy="38100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1925300" y="2809875"/>
            <a:ext cx="3341043" cy="381000"/>
          </a:xfrm>
          <a:prstGeom prst="roundRect">
            <a:avLst>
              <a:gd name="adj" fmla="val 5000"/>
            </a:avLst>
          </a:prstGeom>
          <a:solidFill>
            <a:srgbClr val="5F8DB0"/>
          </a:solidFill>
          <a:ln/>
        </p:spPr>
      </p:sp>
      <p:sp>
        <p:nvSpPr>
          <p:cNvPr id="28" name="Text 26"/>
          <p:cNvSpPr/>
          <p:nvPr/>
        </p:nvSpPr>
        <p:spPr>
          <a:xfrm>
            <a:off x="12058650" y="2833688"/>
            <a:ext cx="5563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77년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962709" y="2867025"/>
            <a:ext cx="144899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1932 → 2009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782300" y="3348038"/>
            <a:ext cx="9906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미국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1925300" y="3324225"/>
            <a:ext cx="3751511" cy="38100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925300" y="3324225"/>
            <a:ext cx="3601343" cy="381000"/>
          </a:xfrm>
          <a:prstGeom prst="roundRect">
            <a:avLst>
              <a:gd name="adj" fmla="val 5000"/>
            </a:avLst>
          </a:prstGeom>
          <a:solidFill>
            <a:srgbClr val="3D6E96"/>
          </a:solidFill>
          <a:ln/>
        </p:spPr>
      </p:sp>
      <p:sp>
        <p:nvSpPr>
          <p:cNvPr id="33" name="Text 31"/>
          <p:cNvSpPr/>
          <p:nvPr/>
        </p:nvSpPr>
        <p:spPr>
          <a:xfrm>
            <a:off x="12058650" y="3348038"/>
            <a:ext cx="69115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86년+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5829211" y="3381375"/>
            <a:ext cx="15824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1944 → 2030~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782300" y="3862387"/>
            <a:ext cx="9906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1925300" y="3838575"/>
            <a:ext cx="3885009" cy="38100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1925300" y="3838575"/>
            <a:ext cx="1592759" cy="381000"/>
          </a:xfrm>
          <a:prstGeom prst="roundRect">
            <a:avLst>
              <a:gd name="adj" fmla="val 5000"/>
            </a:avLst>
          </a:prstGeom>
          <a:solidFill>
            <a:srgbClr val="3E8EC4"/>
          </a:solidFill>
          <a:ln/>
        </p:spPr>
      </p:sp>
      <p:sp>
        <p:nvSpPr>
          <p:cNvPr id="38" name="Text 36"/>
          <p:cNvSpPr/>
          <p:nvPr/>
        </p:nvSpPr>
        <p:spPr>
          <a:xfrm>
            <a:off x="12058650" y="3862387"/>
            <a:ext cx="5563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37년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5962709" y="3895725"/>
            <a:ext cx="144899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1970 → 2007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0782300" y="4424363"/>
            <a:ext cx="9906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0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1925300" y="4352925"/>
            <a:ext cx="3846314" cy="476250"/>
          </a:xfrm>
          <a:prstGeom prst="roundRect">
            <a:avLst>
              <a:gd name="adj" fmla="val 4000"/>
            </a:avLst>
          </a:prstGeom>
          <a:solidFill>
            <a:srgbClr val="E05A1A">
              <a:alpha val="10000"/>
            </a:srgbClr>
          </a:solidFill>
          <a:ln w="19050">
            <a:solidFill>
              <a:srgbClr val="E05A1A">
                <a:alpha val="4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944350" y="4371975"/>
            <a:ext cx="1066205" cy="438150"/>
          </a:xfrm>
          <a:prstGeom prst="roundRect">
            <a:avLst>
              <a:gd name="adj" fmla="val 4348"/>
            </a:avLst>
          </a:prstGeom>
          <a:solidFill>
            <a:srgbClr val="E05A1A"/>
          </a:solidFill>
          <a:ln/>
        </p:spPr>
      </p:sp>
      <p:sp>
        <p:nvSpPr>
          <p:cNvPr id="43" name="Text 41"/>
          <p:cNvSpPr/>
          <p:nvPr/>
        </p:nvSpPr>
        <p:spPr>
          <a:xfrm>
            <a:off x="12077700" y="4414838"/>
            <a:ext cx="60573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25년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5924014" y="4424363"/>
            <a:ext cx="148768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 → 2025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0858500" y="5038725"/>
            <a:ext cx="64770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10858500" y="5219700"/>
            <a:ext cx="66713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고령화 단계 진입 연도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0858500" y="5667375"/>
            <a:ext cx="2162175" cy="895350"/>
          </a:xfrm>
          <a:prstGeom prst="rect">
            <a:avLst/>
          </a:prstGeom>
          <a:solidFill>
            <a:srgbClr val="1B5FA6">
              <a:alpha val="2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3011150" y="5667375"/>
            <a:ext cx="9525" cy="89535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10934700" y="5762625"/>
            <a:ext cx="20002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3E8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10934700" y="6134100"/>
            <a:ext cx="20002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고령화 사회(7%)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3020675" y="5667375"/>
            <a:ext cx="2162175" cy="895350"/>
          </a:xfrm>
          <a:prstGeom prst="rect">
            <a:avLst/>
          </a:prstGeom>
          <a:solidFill>
            <a:srgbClr val="1B5FA6">
              <a:alpha val="4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5173325" y="5667375"/>
            <a:ext cx="9525" cy="89535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3096875" y="5762625"/>
            <a:ext cx="20002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5C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</a:t>
            </a:r>
            <a:endParaRPr lang="en-US" sz="1950" dirty="0"/>
          </a:p>
        </p:txBody>
      </p:sp>
      <p:sp>
        <p:nvSpPr>
          <p:cNvPr id="54" name="Text 52"/>
          <p:cNvSpPr/>
          <p:nvPr/>
        </p:nvSpPr>
        <p:spPr>
          <a:xfrm>
            <a:off x="13096875" y="6134100"/>
            <a:ext cx="20002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고령사회(14%)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5182850" y="5667375"/>
            <a:ext cx="2152650" cy="895350"/>
          </a:xfrm>
          <a:prstGeom prst="rect">
            <a:avLst/>
          </a:prstGeom>
          <a:solidFill>
            <a:srgbClr val="E05A1A">
              <a:alpha val="35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15259050" y="5762625"/>
            <a:ext cx="20002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E0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950" dirty="0"/>
          </a:p>
        </p:txBody>
      </p:sp>
      <p:sp>
        <p:nvSpPr>
          <p:cNvPr id="57" name="Text 55"/>
          <p:cNvSpPr/>
          <p:nvPr/>
        </p:nvSpPr>
        <p:spPr>
          <a:xfrm>
            <a:off x="15259050" y="6134100"/>
            <a:ext cx="20002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초고령사회(21%)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10858500" y="6734175"/>
            <a:ext cx="667131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&lt;그림 1-1&gt; 세계 및 주요국의 고령화율(1950~2023년) 기반 재구성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647700"/>
            <a:ext cx="592931" cy="409575"/>
          </a:xfrm>
          <a:prstGeom prst="rect">
            <a:avLst/>
          </a:prstGeom>
          <a:solidFill>
            <a:srgbClr val="0B1F3E"/>
          </a:solidFill>
          <a:ln/>
        </p:spPr>
      </p:sp>
      <p:sp>
        <p:nvSpPr>
          <p:cNvPr id="3" name="Text 1"/>
          <p:cNvSpPr/>
          <p:nvPr/>
        </p:nvSpPr>
        <p:spPr>
          <a:xfrm>
            <a:off x="1104900" y="685800"/>
            <a:ext cx="36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78781" y="685800"/>
            <a:ext cx="251876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Ageing 패러다임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1304925"/>
            <a:ext cx="1687449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750" b="1" dirty="0">
                <a:solidFill>
                  <a:srgbClr val="0B1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고령화 대응의 초점은 </a:t>
            </a:r>
            <a:pPr algn="l" indent="0" marL="0">
              <a:lnSpc>
                <a:spcPct val="130000"/>
              </a:lnSpc>
              <a:buNone/>
            </a:pPr>
            <a:r>
              <a:rPr lang="en-US" sz="375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'오래 사는 것'</a:t>
            </a:r>
            <a:pPr algn="l" indent="0" marL="0">
              <a:lnSpc>
                <a:spcPct val="130000"/>
              </a:lnSpc>
              <a:buNone/>
            </a:pPr>
            <a:r>
              <a:rPr lang="en-US" sz="3750" b="1" dirty="0">
                <a:solidFill>
                  <a:srgbClr val="0B1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아니라 </a:t>
            </a:r>
            <a:pPr algn="l" indent="0" marL="0">
              <a:lnSpc>
                <a:spcPct val="130000"/>
              </a:lnSpc>
              <a:buNone/>
            </a:pPr>
            <a:r>
              <a:rPr lang="en-US" sz="3750" b="1" dirty="0">
                <a:solidFill>
                  <a:srgbClr val="1B5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'건강하게 늙는 것'</a:t>
            </a:r>
            <a:pPr algn="l" indent="0" marL="0">
              <a:lnSpc>
                <a:spcPct val="130000"/>
              </a:lnSpc>
              <a:buNone/>
            </a:pPr>
            <a:r>
              <a:rPr lang="en-US" sz="3750" b="1" dirty="0">
                <a:solidFill>
                  <a:srgbClr val="0B1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으로 이동했다</a:t>
            </a:r>
            <a:endParaRPr lang="en-US" sz="3750" dirty="0"/>
          </a:p>
        </p:txBody>
      </p:sp>
      <p:sp>
        <p:nvSpPr>
          <p:cNvPr id="6" name="Shape 4"/>
          <p:cNvSpPr/>
          <p:nvPr/>
        </p:nvSpPr>
        <p:spPr>
          <a:xfrm>
            <a:off x="952500" y="2724150"/>
            <a:ext cx="10744200" cy="19050"/>
          </a:xfrm>
          <a:prstGeom prst="rect">
            <a:avLst/>
          </a:prstGeom>
          <a:solidFill>
            <a:srgbClr val="1B5FA6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2276475"/>
            <a:ext cx="110665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Healthy Ageing Decade (2021–2030) 4대 행동 영역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" y="2895600"/>
            <a:ext cx="5305425" cy="1807369"/>
          </a:xfrm>
          <a:prstGeom prst="rect">
            <a:avLst/>
          </a:prstGeom>
          <a:solidFill>
            <a:srgbClr val="F2F5FA"/>
          </a:solidFill>
          <a:ln/>
        </p:spPr>
      </p:sp>
      <p:sp>
        <p:nvSpPr>
          <p:cNvPr id="9" name="Shape 7"/>
          <p:cNvSpPr/>
          <p:nvPr/>
        </p:nvSpPr>
        <p:spPr>
          <a:xfrm>
            <a:off x="952500" y="2895600"/>
            <a:ext cx="5305425" cy="28575"/>
          </a:xfrm>
          <a:prstGeom prst="rect">
            <a:avLst/>
          </a:prstGeom>
          <a:solidFill>
            <a:srgbClr val="1B5FA6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095625"/>
            <a:ext cx="5072158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B5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연령차별 인식 전환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3468886"/>
            <a:ext cx="5072158" cy="1100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D4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사회 전반의 부정적 연령차별(ageism)에 도전하고 고령자의 사회적 배제 및 기회 축소 완화. 연령주의의 사회·경제적 영향 규명 연구 필요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391275" y="2895600"/>
            <a:ext cx="5305425" cy="1807369"/>
          </a:xfrm>
          <a:prstGeom prst="rect">
            <a:avLst/>
          </a:prstGeom>
          <a:solidFill>
            <a:srgbClr val="F2F5FA"/>
          </a:solidFill>
          <a:ln/>
        </p:spPr>
      </p:sp>
      <p:sp>
        <p:nvSpPr>
          <p:cNvPr id="13" name="Shape 11"/>
          <p:cNvSpPr/>
          <p:nvPr/>
        </p:nvSpPr>
        <p:spPr>
          <a:xfrm>
            <a:off x="6391275" y="2895600"/>
            <a:ext cx="5305425" cy="28575"/>
          </a:xfrm>
          <a:prstGeom prst="rect">
            <a:avLst/>
          </a:prstGeom>
          <a:solidFill>
            <a:srgbClr val="3E8EC4"/>
          </a:solidFill>
          <a:ln/>
        </p:spPr>
      </p:sp>
      <p:sp>
        <p:nvSpPr>
          <p:cNvPr id="14" name="Text 12"/>
          <p:cNvSpPr/>
          <p:nvPr/>
        </p:nvSpPr>
        <p:spPr>
          <a:xfrm>
            <a:off x="6581775" y="3095625"/>
            <a:ext cx="5072158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E8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고령친화 지역사회 조성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1775" y="3468886"/>
            <a:ext cx="5072158" cy="1100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D4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물리적·사회적·경제적 환경이 노인이 존엄하게 노화할 수 있도록 조성. age-friendly 능력 평가 도구 개발 및 지역별 모니터링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2500" y="4836319"/>
            <a:ext cx="5305425" cy="1807369"/>
          </a:xfrm>
          <a:prstGeom prst="rect">
            <a:avLst/>
          </a:prstGeom>
          <a:solidFill>
            <a:srgbClr val="F2F5FA"/>
          </a:solidFill>
          <a:ln/>
        </p:spPr>
      </p:sp>
      <p:sp>
        <p:nvSpPr>
          <p:cNvPr id="17" name="Shape 15"/>
          <p:cNvSpPr/>
          <p:nvPr/>
        </p:nvSpPr>
        <p:spPr>
          <a:xfrm>
            <a:off x="952500" y="4836319"/>
            <a:ext cx="5305425" cy="28575"/>
          </a:xfrm>
          <a:prstGeom prst="rect">
            <a:avLst/>
          </a:prstGeom>
          <a:solidFill>
            <a:srgbClr val="F4A830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5036344"/>
            <a:ext cx="5072158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C4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통합 의료서비스 제공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5409605"/>
            <a:ext cx="5072158" cy="1100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D4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노인 중심 통합진료 모델 및 보편적 건강보장(UHC) 달성. 임상 근거·측정 도구 개발, 보건인력 역량·입법·재원 구조 연구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391275" y="4836319"/>
            <a:ext cx="5305425" cy="1807369"/>
          </a:xfrm>
          <a:prstGeom prst="rect">
            <a:avLst/>
          </a:prstGeom>
          <a:solidFill>
            <a:srgbClr val="F2F5FA"/>
          </a:solidFill>
          <a:ln/>
        </p:spPr>
      </p:sp>
      <p:sp>
        <p:nvSpPr>
          <p:cNvPr id="21" name="Shape 19"/>
          <p:cNvSpPr/>
          <p:nvPr/>
        </p:nvSpPr>
        <p:spPr>
          <a:xfrm>
            <a:off x="6391275" y="4836319"/>
            <a:ext cx="5305425" cy="28575"/>
          </a:xfrm>
          <a:prstGeom prst="rect">
            <a:avLst/>
          </a:prstGeom>
          <a:solidFill>
            <a:srgbClr val="E05A1A"/>
          </a:solidFill>
          <a:ln/>
        </p:spPr>
      </p:sp>
      <p:sp>
        <p:nvSpPr>
          <p:cNvPr id="22" name="Text 20"/>
          <p:cNvSpPr/>
          <p:nvPr/>
        </p:nvSpPr>
        <p:spPr>
          <a:xfrm>
            <a:off x="6581775" y="5036344"/>
            <a:ext cx="5072158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E0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장기요양(LTC) 접근성 보장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81775" y="5409605"/>
            <a:ext cx="5072158" cy="1100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D4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기능저하 노인에게 존엄한 장기요양 제공. 다양한 환경에서의 LTC 자금조달 모델 비교연구 및 비용효율적 개입 평가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52500" y="6757988"/>
            <a:ext cx="110665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WHO, UN Decade of Healthy Ageing (2021–2030)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192000" y="3181350"/>
            <a:ext cx="5143500" cy="19050"/>
          </a:xfrm>
          <a:prstGeom prst="rect">
            <a:avLst/>
          </a:prstGeom>
          <a:solidFill>
            <a:srgbClr val="E05A1A"/>
          </a:solidFill>
          <a:ln/>
        </p:spPr>
      </p:sp>
      <p:sp>
        <p:nvSpPr>
          <p:cNvPr id="26" name="Text 24"/>
          <p:cNvSpPr/>
          <p:nvPr/>
        </p:nvSpPr>
        <p:spPr>
          <a:xfrm>
            <a:off x="12192000" y="2714625"/>
            <a:ext cx="529780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기대수명 vs 건강수명 개념도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2192000" y="3409950"/>
            <a:ext cx="529780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D4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기대수명 — 오래 사는 것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2192000" y="3819525"/>
            <a:ext cx="5143500" cy="438150"/>
          </a:xfrm>
          <a:prstGeom prst="roundRect">
            <a:avLst>
              <a:gd name="adj" fmla="val 6522"/>
            </a:avLst>
          </a:prstGeom>
          <a:solidFill>
            <a:srgbClr val="1B5FA6"/>
          </a:solidFill>
          <a:ln/>
        </p:spPr>
      </p:sp>
      <p:sp>
        <p:nvSpPr>
          <p:cNvPr id="29" name="Text 27"/>
          <p:cNvSpPr/>
          <p:nvPr/>
        </p:nvSpPr>
        <p:spPr>
          <a:xfrm>
            <a:off x="12363450" y="3871913"/>
            <a:ext cx="146610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생존 기간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192000" y="4467225"/>
            <a:ext cx="529780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D4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건강수명 — 건강하게 사는 것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2192000" y="4876800"/>
            <a:ext cx="3900488" cy="438150"/>
          </a:xfrm>
          <a:prstGeom prst="roundRect">
            <a:avLst>
              <a:gd name="adj" fmla="val 6522"/>
            </a:avLst>
          </a:prstGeom>
          <a:solidFill>
            <a:srgbClr val="3E8EC4"/>
          </a:solidFill>
          <a:ln/>
        </p:spPr>
      </p:sp>
      <p:sp>
        <p:nvSpPr>
          <p:cNvPr id="32" name="Text 30"/>
          <p:cNvSpPr/>
          <p:nvPr/>
        </p:nvSpPr>
        <p:spPr>
          <a:xfrm>
            <a:off x="12363450" y="4929188"/>
            <a:ext cx="195083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건강 상태 생존 기간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6092487" y="4876800"/>
            <a:ext cx="1243013" cy="438150"/>
          </a:xfrm>
          <a:prstGeom prst="rect">
            <a:avLst/>
          </a:prstGeom>
          <a:solidFill>
            <a:srgbClr val="E05A1A"/>
          </a:solidFill>
          <a:ln/>
        </p:spPr>
      </p:sp>
      <p:sp>
        <p:nvSpPr>
          <p:cNvPr id="34" name="Text 32"/>
          <p:cNvSpPr/>
          <p:nvPr/>
        </p:nvSpPr>
        <p:spPr>
          <a:xfrm>
            <a:off x="16503551" y="4762500"/>
            <a:ext cx="496937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유병 기간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2192000" y="5524500"/>
            <a:ext cx="5143500" cy="1868537"/>
          </a:xfrm>
          <a:prstGeom prst="roundRect">
            <a:avLst>
              <a:gd name="adj" fmla="val 1020"/>
            </a:avLst>
          </a:prstGeom>
          <a:solidFill>
            <a:srgbClr val="FFF3ED"/>
          </a:solidFill>
          <a:ln w="9525">
            <a:solidFill>
              <a:srgbClr val="E05A1A">
                <a:alpha val="3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392025" y="5705475"/>
            <a:ext cx="488575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0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격차 = 유병 기간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12392025" y="6115050"/>
            <a:ext cx="4885754" cy="1135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0B1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질병·장애·기능 저하 상태로 살아가는 기간. 격차가 클수록 돌봄·의료 비용 증가, 삶의 질·존엄성 저하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2192000" y="7602587"/>
            <a:ext cx="1650950" cy="971550"/>
          </a:xfrm>
          <a:prstGeom prst="rect">
            <a:avLst/>
          </a:prstGeom>
          <a:solidFill>
            <a:srgbClr val="F2F5FA"/>
          </a:solidFill>
          <a:ln/>
        </p:spPr>
      </p:sp>
      <p:sp>
        <p:nvSpPr>
          <p:cNvPr id="39" name="Text 37"/>
          <p:cNvSpPr/>
          <p:nvPr/>
        </p:nvSpPr>
        <p:spPr>
          <a:xfrm>
            <a:off x="12249150" y="7735937"/>
            <a:ext cx="15366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삶의 질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2249150" y="8107412"/>
            <a:ext cx="15366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D4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노후 독립성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3938200" y="7602587"/>
            <a:ext cx="1650950" cy="971550"/>
          </a:xfrm>
          <a:prstGeom prst="rect">
            <a:avLst/>
          </a:prstGeom>
          <a:solidFill>
            <a:srgbClr val="F2F5FA"/>
          </a:solidFill>
          <a:ln/>
        </p:spPr>
      </p:sp>
      <p:sp>
        <p:nvSpPr>
          <p:cNvPr id="42" name="Text 40"/>
          <p:cNvSpPr/>
          <p:nvPr/>
        </p:nvSpPr>
        <p:spPr>
          <a:xfrm>
            <a:off x="13995350" y="7735937"/>
            <a:ext cx="15366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존엄성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3995350" y="8107412"/>
            <a:ext cx="15366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D4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자립 생활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5684401" y="7602587"/>
            <a:ext cx="1650950" cy="971550"/>
          </a:xfrm>
          <a:prstGeom prst="rect">
            <a:avLst/>
          </a:prstGeom>
          <a:solidFill>
            <a:srgbClr val="F2F5FA"/>
          </a:solidFill>
          <a:ln/>
        </p:spPr>
      </p:sp>
      <p:sp>
        <p:nvSpPr>
          <p:cNvPr id="45" name="Text 43"/>
          <p:cNvSpPr/>
          <p:nvPr/>
        </p:nvSpPr>
        <p:spPr>
          <a:xfrm>
            <a:off x="15741551" y="7735937"/>
            <a:ext cx="15366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방향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5741551" y="8107412"/>
            <a:ext cx="15366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D4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정책 기준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647700"/>
            <a:ext cx="592931" cy="409575"/>
          </a:xfrm>
          <a:prstGeom prst="rect">
            <a:avLst/>
          </a:prstGeom>
          <a:solidFill>
            <a:srgbClr val="0B1F3E"/>
          </a:solidFill>
          <a:ln/>
        </p:spPr>
      </p:sp>
      <p:sp>
        <p:nvSpPr>
          <p:cNvPr id="3" name="Text 1"/>
          <p:cNvSpPr/>
          <p:nvPr/>
        </p:nvSpPr>
        <p:spPr>
          <a:xfrm>
            <a:off x="1104900" y="685800"/>
            <a:ext cx="36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78781" y="685800"/>
            <a:ext cx="20960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한국의 건강수명 격차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1304925"/>
            <a:ext cx="16874490" cy="119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3450" b="1" dirty="0">
                <a:solidFill>
                  <a:srgbClr val="0B1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한국은 기대수명보다 건강수명의 개선이 뒤처지는 </a:t>
            </a:r>
            <a:pPr algn="l" indent="0" marL="0">
              <a:lnSpc>
                <a:spcPct val="132000"/>
              </a:lnSpc>
              <a:buNone/>
            </a:pPr>
            <a:r>
              <a:rPr lang="en-US" sz="3450" b="1" dirty="0">
                <a:solidFill>
                  <a:srgbClr val="E0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'건강하지 않은 고령화' </a:t>
            </a:r>
            <a:pPr algn="l" indent="0" marL="0">
              <a:lnSpc>
                <a:spcPct val="132000"/>
              </a:lnSpc>
              <a:buNone/>
            </a:pPr>
            <a:r>
              <a:rPr lang="en-US" sz="3450" b="1" dirty="0">
                <a:solidFill>
                  <a:srgbClr val="0B1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 빠르게 심화되고 있다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952500" y="2766417"/>
            <a:ext cx="4381500" cy="18478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19200" y="3014067"/>
            <a:ext cx="396354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유병 기간 (60세 이상 기준, 년)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1100" y="3509367"/>
            <a:ext cx="116770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450" b="1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4.9년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1181100" y="4004667"/>
            <a:ext cx="116770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2000년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501205" y="3676055"/>
            <a:ext cx="4191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0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2996505" y="3480792"/>
            <a:ext cx="208791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E0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6.5년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2996505" y="4033242"/>
            <a:ext cx="20879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2020년 ▲ 최고 속도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52500" y="4804767"/>
            <a:ext cx="4381500" cy="1550491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52500" y="4804767"/>
            <a:ext cx="38100" cy="1550491"/>
          </a:xfrm>
          <a:prstGeom prst="rect">
            <a:avLst/>
          </a:prstGeom>
          <a:solidFill>
            <a:srgbClr val="E05A1A"/>
          </a:solidFill>
          <a:ln/>
        </p:spPr>
      </p:sp>
      <p:sp>
        <p:nvSpPr>
          <p:cNvPr id="15" name="Text 13"/>
          <p:cNvSpPr/>
          <p:nvPr/>
        </p:nvSpPr>
        <p:spPr>
          <a:xfrm>
            <a:off x="1238250" y="5014317"/>
            <a:ext cx="3963543" cy="1169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0B1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미국·EU·일본은 2020년 이후 격차 </a:t>
            </a:r>
            <a:pPr algn="l" indent="0" marL="0">
              <a:lnSpc>
                <a:spcPct val="165000"/>
              </a:lnSpc>
              <a:buNone/>
            </a:pPr>
            <a:r>
              <a:rPr lang="en-US" sz="1800" b="1" dirty="0">
                <a:solidFill>
                  <a:srgbClr val="1B5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감소 국면 </a:t>
            </a:r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0B1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진입, 한국만 격차 </a:t>
            </a:r>
            <a:pPr algn="l" indent="0" marL="0">
              <a:lnSpc>
                <a:spcPct val="165000"/>
              </a:lnSpc>
              <a:buNone/>
            </a:pPr>
            <a:r>
              <a:rPr lang="en-US" sz="1800" b="1" dirty="0">
                <a:solidFill>
                  <a:srgbClr val="E0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지속 확대</a:t>
            </a:r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0B1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되는 유일한 양상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2500" y="6545759"/>
            <a:ext cx="4381500" cy="2476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200150" y="6755309"/>
            <a:ext cx="400278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격차 확대의 사회적 파급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00150" y="7745909"/>
            <a:ext cx="3886200" cy="9525"/>
          </a:xfrm>
          <a:prstGeom prst="rect">
            <a:avLst/>
          </a:prstGeom>
          <a:solidFill>
            <a:srgbClr val="DDE2EC"/>
          </a:solidFill>
          <a:ln/>
        </p:spPr>
      </p:sp>
      <p:sp>
        <p:nvSpPr>
          <p:cNvPr id="19" name="Shape 17"/>
          <p:cNvSpPr/>
          <p:nvPr/>
        </p:nvSpPr>
        <p:spPr>
          <a:xfrm>
            <a:off x="1200150" y="7445871"/>
            <a:ext cx="76200" cy="76200"/>
          </a:xfrm>
          <a:prstGeom prst="ellipse">
            <a:avLst/>
          </a:prstGeom>
          <a:solidFill>
            <a:srgbClr val="E05A1A"/>
          </a:solidFill>
          <a:ln/>
        </p:spPr>
      </p:sp>
      <p:sp>
        <p:nvSpPr>
          <p:cNvPr id="20" name="Text 18"/>
          <p:cNvSpPr/>
          <p:nvPr/>
        </p:nvSpPr>
        <p:spPr>
          <a:xfrm>
            <a:off x="1390650" y="7317284"/>
            <a:ext cx="33074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D4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장기요양·의료비 지출 구조적 증가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200150" y="8279309"/>
            <a:ext cx="3886200" cy="9525"/>
          </a:xfrm>
          <a:prstGeom prst="rect">
            <a:avLst/>
          </a:prstGeom>
          <a:solidFill>
            <a:srgbClr val="DDE2EC"/>
          </a:solidFill>
          <a:ln/>
        </p:spPr>
      </p:sp>
      <p:sp>
        <p:nvSpPr>
          <p:cNvPr id="22" name="Shape 20"/>
          <p:cNvSpPr/>
          <p:nvPr/>
        </p:nvSpPr>
        <p:spPr>
          <a:xfrm>
            <a:off x="1200150" y="7979271"/>
            <a:ext cx="76200" cy="76200"/>
          </a:xfrm>
          <a:prstGeom prst="ellipse">
            <a:avLst/>
          </a:prstGeom>
          <a:solidFill>
            <a:srgbClr val="E05A1A"/>
          </a:solidFill>
          <a:ln/>
        </p:spPr>
      </p:sp>
      <p:sp>
        <p:nvSpPr>
          <p:cNvPr id="23" name="Text 21"/>
          <p:cNvSpPr/>
          <p:nvPr/>
        </p:nvSpPr>
        <p:spPr>
          <a:xfrm>
            <a:off x="1390650" y="7850684"/>
            <a:ext cx="271006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D4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가족 및 사회 돌봄 부담 급증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200150" y="8512671"/>
            <a:ext cx="76200" cy="76200"/>
          </a:xfrm>
          <a:prstGeom prst="ellipse">
            <a:avLst/>
          </a:prstGeom>
          <a:solidFill>
            <a:srgbClr val="E05A1A"/>
          </a:solidFill>
          <a:ln/>
        </p:spPr>
      </p:sp>
      <p:sp>
        <p:nvSpPr>
          <p:cNvPr id="25" name="Text 23"/>
          <p:cNvSpPr/>
          <p:nvPr/>
        </p:nvSpPr>
        <p:spPr>
          <a:xfrm>
            <a:off x="1390650" y="8384084"/>
            <a:ext cx="34237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D4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예방 중심 건강관리 R&amp;D 혁신 시급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829300" y="2766417"/>
            <a:ext cx="11506200" cy="60579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096000" y="3033117"/>
            <a:ext cx="1130198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주요국 기대수명–건강수명 격차 추이 (60세 이상, 년)</a:t>
            </a:r>
            <a:endParaRPr lang="en-US" sz="180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3499842"/>
            <a:ext cx="10972800" cy="472440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096000" y="8300442"/>
            <a:ext cx="1130198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WHO Global Health Estimates 기반 재구성 / &lt;그림 1-2&gt; 주요국의 기대수명과 건강수명의 차이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647700"/>
            <a:ext cx="592931" cy="40957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04900" y="685800"/>
            <a:ext cx="3643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78781" y="685800"/>
            <a:ext cx="167550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국내외 연구 동향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1304925"/>
            <a:ext cx="1687449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국외 고령화 연구는 복지 문제가 아니라 </a:t>
            </a:r>
            <a:pPr algn="l" indent="0" marL="0">
              <a:lnSpc>
                <a:spcPct val="130000"/>
              </a:lnSpc>
              <a:buNone/>
            </a:pPr>
            <a:r>
              <a:rPr lang="en-US" sz="3750" b="1" dirty="0">
                <a:solidFill>
                  <a:srgbClr val="3E8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시스템 전환 과제</a:t>
            </a:r>
            <a:pPr algn="l" indent="0" marL="0">
              <a:lnSpc>
                <a:spcPct val="13000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수렴하고 있다</a:t>
            </a:r>
            <a:endParaRPr lang="en-US" sz="3750" dirty="0"/>
          </a:p>
        </p:txBody>
      </p:sp>
      <p:sp>
        <p:nvSpPr>
          <p:cNvPr id="6" name="Shape 4"/>
          <p:cNvSpPr/>
          <p:nvPr/>
        </p:nvSpPr>
        <p:spPr>
          <a:xfrm>
            <a:off x="952500" y="2657475"/>
            <a:ext cx="7981950" cy="19050"/>
          </a:xfrm>
          <a:prstGeom prst="rect">
            <a:avLst/>
          </a:prstGeom>
          <a:solidFill>
            <a:srgbClr val="3E8EC4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2228850"/>
            <a:ext cx="822140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E8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국외 연구 핵심 의제 (OECD·IMF·WHO·WEF)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" y="2828925"/>
            <a:ext cx="7981950" cy="60007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52500" y="2828925"/>
            <a:ext cx="28575" cy="600075"/>
          </a:xfrm>
          <a:prstGeom prst="rect">
            <a:avLst/>
          </a:prstGeom>
          <a:solidFill>
            <a:srgbClr val="1B5FA6"/>
          </a:solidFill>
          <a:ln/>
        </p:spPr>
      </p:sp>
      <p:sp>
        <p:nvSpPr>
          <p:cNvPr id="10" name="Text 8"/>
          <p:cNvSpPr/>
          <p:nvPr/>
        </p:nvSpPr>
        <p:spPr>
          <a:xfrm>
            <a:off x="1152525" y="2962275"/>
            <a:ext cx="427181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4D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공적 재정 및 연금 시스템 개혁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14218" y="2995613"/>
            <a:ext cx="34492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A7E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OECD · IMF · World Bank · WEF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52500" y="3524250"/>
            <a:ext cx="7981950" cy="60007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52500" y="3524250"/>
            <a:ext cx="28575" cy="600075"/>
          </a:xfrm>
          <a:prstGeom prst="rect">
            <a:avLst/>
          </a:prstGeom>
          <a:solidFill>
            <a:srgbClr val="1B5FA6"/>
          </a:solidFill>
          <a:ln/>
        </p:spPr>
      </p:sp>
      <p:sp>
        <p:nvSpPr>
          <p:cNvPr id="14" name="Text 12"/>
          <p:cNvSpPr/>
          <p:nvPr/>
        </p:nvSpPr>
        <p:spPr>
          <a:xfrm>
            <a:off x="1152525" y="3657600"/>
            <a:ext cx="510894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4D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건강·기능성 및 고령친화 환경 조성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26969" y="3690937"/>
            <a:ext cx="261223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A7E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· World Bank · IMF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2500" y="4219575"/>
            <a:ext cx="7981950" cy="60007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52500" y="4219575"/>
            <a:ext cx="28575" cy="600075"/>
          </a:xfrm>
          <a:prstGeom prst="rect">
            <a:avLst/>
          </a:prstGeom>
          <a:solidFill>
            <a:srgbClr val="3E8EC4"/>
          </a:solidFill>
          <a:ln/>
        </p:spPr>
      </p:sp>
      <p:sp>
        <p:nvSpPr>
          <p:cNvPr id="18" name="Text 16"/>
          <p:cNvSpPr/>
          <p:nvPr/>
        </p:nvSpPr>
        <p:spPr>
          <a:xfrm>
            <a:off x="1152525" y="4352925"/>
            <a:ext cx="569376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4D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노동시장 적응·생산성 제고 (AI·자동화 포함)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94748" y="4386263"/>
            <a:ext cx="204445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A7E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OECD · WEF · IMF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52500" y="4914900"/>
            <a:ext cx="7981950" cy="60007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52500" y="4914900"/>
            <a:ext cx="28575" cy="600075"/>
          </a:xfrm>
          <a:prstGeom prst="rect">
            <a:avLst/>
          </a:prstGeom>
          <a:solidFill>
            <a:srgbClr val="3E8EC4"/>
          </a:solidFill>
          <a:ln/>
        </p:spPr>
      </p:sp>
      <p:sp>
        <p:nvSpPr>
          <p:cNvPr id="22" name="Text 20"/>
          <p:cNvSpPr/>
          <p:nvPr/>
        </p:nvSpPr>
        <p:spPr>
          <a:xfrm>
            <a:off x="1152525" y="5048250"/>
            <a:ext cx="719787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4D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평생 소득 및 자산 인출 전략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55050" y="5081588"/>
            <a:ext cx="5841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A7E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WEF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52500" y="5610225"/>
            <a:ext cx="7981950" cy="60007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52500" y="5610225"/>
            <a:ext cx="28575" cy="600075"/>
          </a:xfrm>
          <a:prstGeom prst="rect">
            <a:avLst/>
          </a:prstGeom>
          <a:solidFill>
            <a:srgbClr val="F4A830"/>
          </a:solidFill>
          <a:ln/>
        </p:spPr>
      </p:sp>
      <p:sp>
        <p:nvSpPr>
          <p:cNvPr id="26" name="Text 24"/>
          <p:cNvSpPr/>
          <p:nvPr/>
        </p:nvSpPr>
        <p:spPr>
          <a:xfrm>
            <a:off x="1152525" y="5743575"/>
            <a:ext cx="510894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4D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통합 및 불평등 완화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226969" y="5776913"/>
            <a:ext cx="261223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A7E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IMF · World Bank · WHO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52500" y="6362700"/>
            <a:ext cx="7981950" cy="1036141"/>
          </a:xfrm>
          <a:prstGeom prst="rect">
            <a:avLst/>
          </a:prstGeom>
          <a:solidFill>
            <a:srgbClr val="3E8EC4">
              <a:alpha val="14000"/>
            </a:srgbClr>
          </a:solidFill>
          <a:ln w="9525">
            <a:solidFill>
              <a:srgbClr val="3E8EC4">
                <a:alpha val="28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33475" y="6505575"/>
            <a:ext cx="7848600" cy="788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A8D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연금·의료·노동·교육 체계의 </a:t>
            </a:r>
            <a:pPr algn="l"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전면적 재설계 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A8D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 — 단기 재정 처방을 넘어 시스템 전환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353550" y="2657475"/>
            <a:ext cx="7981950" cy="19050"/>
          </a:xfrm>
          <a:prstGeom prst="rect">
            <a:avLst/>
          </a:prstGeom>
          <a:solidFill>
            <a:srgbClr val="F4A830"/>
          </a:solidFill>
          <a:ln/>
        </p:spPr>
      </p:sp>
      <p:sp>
        <p:nvSpPr>
          <p:cNvPr id="31" name="Text 29"/>
          <p:cNvSpPr/>
          <p:nvPr/>
        </p:nvSpPr>
        <p:spPr>
          <a:xfrm>
            <a:off x="9353550" y="2228850"/>
            <a:ext cx="822140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연구 핵심 의제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353550" y="2828925"/>
            <a:ext cx="7981950" cy="98107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353550" y="2828925"/>
            <a:ext cx="28575" cy="981075"/>
          </a:xfrm>
          <a:prstGeom prst="rect">
            <a:avLst/>
          </a:prstGeom>
          <a:solidFill>
            <a:srgbClr val="F4A830"/>
          </a:solidFill>
          <a:ln/>
        </p:spPr>
      </p:sp>
      <p:sp>
        <p:nvSpPr>
          <p:cNvPr id="34" name="Text 32"/>
          <p:cNvSpPr/>
          <p:nvPr/>
        </p:nvSpPr>
        <p:spPr>
          <a:xfrm>
            <a:off x="9553575" y="2962275"/>
            <a:ext cx="783878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4D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인구구조 및 사회시스템 위험 진단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553575" y="3343275"/>
            <a:ext cx="783878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A7E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한국보건사회연구원 · 경제인문사회연구회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9353550" y="3905250"/>
            <a:ext cx="7981950" cy="98107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9353550" y="3905250"/>
            <a:ext cx="28575" cy="981075"/>
          </a:xfrm>
          <a:prstGeom prst="rect">
            <a:avLst/>
          </a:prstGeom>
          <a:solidFill>
            <a:srgbClr val="F4A830"/>
          </a:solidFill>
          <a:ln/>
        </p:spPr>
      </p:sp>
      <p:sp>
        <p:nvSpPr>
          <p:cNvPr id="38" name="Text 36"/>
          <p:cNvSpPr/>
          <p:nvPr/>
        </p:nvSpPr>
        <p:spPr>
          <a:xfrm>
            <a:off x="9553575" y="4038600"/>
            <a:ext cx="783878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4D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경제 및 재정 안정성 확보 방안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553575" y="4419600"/>
            <a:ext cx="783878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A7E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KDI · 한국보건사회연구원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9353550" y="4981575"/>
            <a:ext cx="7981950" cy="98107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9353550" y="4981575"/>
            <a:ext cx="28575" cy="981075"/>
          </a:xfrm>
          <a:prstGeom prst="rect">
            <a:avLst/>
          </a:prstGeom>
          <a:solidFill>
            <a:srgbClr val="F4A830">
              <a:alpha val="55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9553575" y="5114925"/>
            <a:ext cx="783878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4D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선진국(독일·스웨덴·일본) 정책 사례 연구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9553575" y="5495925"/>
            <a:ext cx="783878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A7E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한국보건사회연구원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9353550" y="6057900"/>
            <a:ext cx="7981950" cy="98107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353550" y="6057900"/>
            <a:ext cx="28575" cy="981075"/>
          </a:xfrm>
          <a:prstGeom prst="rect">
            <a:avLst/>
          </a:prstGeom>
          <a:solidFill>
            <a:srgbClr val="F4A830">
              <a:alpha val="5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9553575" y="6191250"/>
            <a:ext cx="783878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4D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ICT·AI·로봇 기반 돌봄 기술 도입 제시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9553575" y="6572250"/>
            <a:ext cx="783878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A7E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성지은·송위진(2023) · 경제인문사회연구회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9353550" y="7191375"/>
            <a:ext cx="7981950" cy="1055191"/>
          </a:xfrm>
          <a:prstGeom prst="rect">
            <a:avLst/>
          </a:prstGeom>
          <a:solidFill>
            <a:srgbClr val="F4A830">
              <a:alpha val="10000"/>
            </a:srgbClr>
          </a:solidFill>
          <a:ln w="9525">
            <a:solidFill>
              <a:srgbClr val="F4A830">
                <a:alpha val="25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534525" y="7334250"/>
            <a:ext cx="7848600" cy="807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E8C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다학제적·통합적 접근으로 이동 중 — 파편화된 복지 정책을 넘어 </a:t>
            </a:r>
            <a:pPr algn="l"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 R&amp;D 거버넌스 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E8C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필요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9353550" y="8418016"/>
            <a:ext cx="7981950" cy="11906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353550" y="8418016"/>
            <a:ext cx="798195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9525000" y="8579941"/>
            <a:ext cx="786822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국외 연구 5대 정책 영역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9525000" y="9008566"/>
            <a:ext cx="1184077" cy="447675"/>
          </a:xfrm>
          <a:prstGeom prst="roundRect">
            <a:avLst>
              <a:gd name="adj" fmla="val 42553"/>
            </a:avLst>
          </a:prstGeom>
          <a:solidFill>
            <a:srgbClr val="1B5FA6">
              <a:alpha val="3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9658350" y="9065716"/>
            <a:ext cx="99357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C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재정·연금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0785277" y="9008566"/>
            <a:ext cx="1394520" cy="447675"/>
          </a:xfrm>
          <a:prstGeom prst="roundRect">
            <a:avLst>
              <a:gd name="adj" fmla="val 42553"/>
            </a:avLst>
          </a:prstGeom>
          <a:solidFill>
            <a:srgbClr val="1B5FA6">
              <a:alpha val="3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10918627" y="9065716"/>
            <a:ext cx="12040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C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보건·기능성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2255996" y="9008566"/>
            <a:ext cx="1394520" cy="447675"/>
          </a:xfrm>
          <a:prstGeom prst="roundRect">
            <a:avLst>
              <a:gd name="adj" fmla="val 42553"/>
            </a:avLst>
          </a:prstGeom>
          <a:solidFill>
            <a:srgbClr val="3E8EC4">
              <a:alpha val="3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2389346" y="9065716"/>
            <a:ext cx="12040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C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노동·생산성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3726716" y="9008566"/>
            <a:ext cx="1184077" cy="447675"/>
          </a:xfrm>
          <a:prstGeom prst="roundRect">
            <a:avLst>
              <a:gd name="adj" fmla="val 42553"/>
            </a:avLst>
          </a:prstGeom>
          <a:solidFill>
            <a:srgbClr val="3E8EC4">
              <a:alpha val="30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13860066" y="9065716"/>
            <a:ext cx="99357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C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소득·자산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4986992" y="9008566"/>
            <a:ext cx="1381869" cy="447675"/>
          </a:xfrm>
          <a:prstGeom prst="roundRect">
            <a:avLst>
              <a:gd name="adj" fmla="val 42553"/>
            </a:avLst>
          </a:prstGeom>
          <a:solidFill>
            <a:srgbClr val="F4A830">
              <a:alpha val="25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5120342" y="9065716"/>
            <a:ext cx="119136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8C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불평등 완화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647700"/>
            <a:ext cx="743843" cy="409575"/>
          </a:xfrm>
          <a:prstGeom prst="rect">
            <a:avLst/>
          </a:prstGeom>
          <a:solidFill>
            <a:srgbClr val="E05A1A"/>
          </a:solidFill>
          <a:ln/>
        </p:spPr>
      </p:sp>
      <p:sp>
        <p:nvSpPr>
          <p:cNvPr id="3" name="Text 1"/>
          <p:cNvSpPr/>
          <p:nvPr/>
        </p:nvSpPr>
        <p:spPr>
          <a:xfrm>
            <a:off x="1104900" y="685800"/>
            <a:ext cx="51524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29693" y="685800"/>
            <a:ext cx="385700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한국의 구조적 취약성과 R&amp;D 대응 방향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1304925"/>
            <a:ext cx="16874490" cy="119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한국의 고령화는 </a:t>
            </a:r>
            <a:pPr algn="l" indent="0" marL="0">
              <a:lnSpc>
                <a:spcPct val="132000"/>
              </a:lnSpc>
              <a:buNone/>
            </a:pPr>
            <a:r>
              <a:rPr lang="en-US" sz="3450" b="1" dirty="0">
                <a:solidFill>
                  <a:srgbClr val="F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속도·구조·취약성 </a:t>
            </a:r>
            <a:pPr algn="l" indent="0" marL="0">
              <a:lnSpc>
                <a:spcPct val="132000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동시에 극단적이므로, 통합형 인구정책과 </a:t>
            </a:r>
            <a:pPr algn="l" indent="0" marL="0">
              <a:lnSpc>
                <a:spcPct val="132000"/>
              </a:lnSpc>
              <a:buNone/>
            </a:pPr>
            <a:r>
              <a:rPr lang="en-US" sz="3450" b="1" dirty="0">
                <a:solidFill>
                  <a:srgbClr val="3E8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거버넌스</a:t>
            </a:r>
            <a:pPr algn="l" indent="0" marL="0">
              <a:lnSpc>
                <a:spcPct val="132000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 필요하다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952500" y="2747367"/>
            <a:ext cx="5321201" cy="564237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52500" y="2747367"/>
            <a:ext cx="5321201" cy="38100"/>
          </a:xfrm>
          <a:prstGeom prst="rect">
            <a:avLst/>
          </a:prstGeom>
          <a:solidFill>
            <a:srgbClr val="E05A1A"/>
          </a:solidFill>
          <a:ln/>
        </p:spPr>
      </p:sp>
      <p:sp>
        <p:nvSpPr>
          <p:cNvPr id="8" name="Shape 6"/>
          <p:cNvSpPr/>
          <p:nvPr/>
        </p:nvSpPr>
        <p:spPr>
          <a:xfrm>
            <a:off x="1200150" y="3066455"/>
            <a:ext cx="457200" cy="457200"/>
          </a:xfrm>
          <a:prstGeom prst="ellipse">
            <a:avLst/>
          </a:prstGeom>
          <a:solidFill>
            <a:srgbClr val="E05A1A"/>
          </a:solidFill>
          <a:ln/>
        </p:spPr>
      </p:sp>
      <p:sp>
        <p:nvSpPr>
          <p:cNvPr id="9" name="Text 7"/>
          <p:cNvSpPr/>
          <p:nvPr/>
        </p:nvSpPr>
        <p:spPr>
          <a:xfrm>
            <a:off x="1271736" y="3128367"/>
            <a:ext cx="39007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90700" y="3033117"/>
            <a:ext cx="742206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E0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속도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200150" y="3690342"/>
            <a:ext cx="4970678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세계에서 가장 빠른 고령화 — 사회 적응 시간적 유예 전무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00150" y="7037189"/>
            <a:ext cx="57150" cy="57150"/>
          </a:xfrm>
          <a:prstGeom prst="ellipse">
            <a:avLst/>
          </a:prstGeom>
          <a:solidFill>
            <a:srgbClr val="E05A1A"/>
          </a:solidFill>
          <a:ln/>
        </p:spPr>
      </p:sp>
      <p:sp>
        <p:nvSpPr>
          <p:cNvPr id="13" name="Text 11"/>
          <p:cNvSpPr/>
          <p:nvPr/>
        </p:nvSpPr>
        <p:spPr>
          <a:xfrm>
            <a:off x="1352550" y="6951464"/>
            <a:ext cx="36633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C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36년 vs </a:t>
            </a:r>
            <a:pPr algn="l" indent="0" marL="0">
              <a:buNone/>
            </a:pPr>
            <a:r>
              <a:rPr lang="en-US" sz="1800" b="1" dirty="0">
                <a:solidFill>
                  <a:srgbClr val="E0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25년 </a:t>
            </a:r>
            <a:pPr algn="l" indent="0" marL="0">
              <a:buNone/>
            </a:pPr>
            <a:r>
              <a:rPr lang="en-US" sz="1800" dirty="0">
                <a:solidFill>
                  <a:srgbClr val="B8C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11년 단축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00150" y="7465814"/>
            <a:ext cx="57150" cy="57150"/>
          </a:xfrm>
          <a:prstGeom prst="ellipse">
            <a:avLst/>
          </a:prstGeom>
          <a:solidFill>
            <a:srgbClr val="E05A1A"/>
          </a:solidFill>
          <a:ln/>
        </p:spPr>
      </p:sp>
      <p:sp>
        <p:nvSpPr>
          <p:cNvPr id="15" name="Text 13"/>
          <p:cNvSpPr/>
          <p:nvPr/>
        </p:nvSpPr>
        <p:spPr>
          <a:xfrm>
            <a:off x="1352550" y="7380089"/>
            <a:ext cx="288635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C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초고령사회 진입 예정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00150" y="7894439"/>
            <a:ext cx="57150" cy="57150"/>
          </a:xfrm>
          <a:prstGeom prst="ellipse">
            <a:avLst/>
          </a:prstGeom>
          <a:solidFill>
            <a:srgbClr val="E05A1A"/>
          </a:solidFill>
          <a:ln/>
        </p:spPr>
      </p:sp>
      <p:sp>
        <p:nvSpPr>
          <p:cNvPr id="17" name="Text 15"/>
          <p:cNvSpPr/>
          <p:nvPr/>
        </p:nvSpPr>
        <p:spPr>
          <a:xfrm>
            <a:off x="1352550" y="7808714"/>
            <a:ext cx="417953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C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정책·재정·인력·기술 체계의 압박 동시 가중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83251" y="2747367"/>
            <a:ext cx="5321350" cy="564237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483251" y="2747367"/>
            <a:ext cx="5321350" cy="38100"/>
          </a:xfrm>
          <a:prstGeom prst="rect">
            <a:avLst/>
          </a:prstGeom>
          <a:solidFill>
            <a:srgbClr val="F4A830"/>
          </a:solidFill>
          <a:ln/>
        </p:spPr>
      </p:sp>
      <p:sp>
        <p:nvSpPr>
          <p:cNvPr id="20" name="Shape 18"/>
          <p:cNvSpPr/>
          <p:nvPr/>
        </p:nvSpPr>
        <p:spPr>
          <a:xfrm>
            <a:off x="6730901" y="3066455"/>
            <a:ext cx="457200" cy="457200"/>
          </a:xfrm>
          <a:prstGeom prst="ellipse">
            <a:avLst/>
          </a:prstGeom>
          <a:solidFill>
            <a:srgbClr val="F4A83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2493" y="3128367"/>
            <a:ext cx="29006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21451" y="3033117"/>
            <a:ext cx="742206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</a:t>
            </a:r>
            <a:endParaRPr lang="en-US" sz="2850" dirty="0"/>
          </a:p>
        </p:txBody>
      </p:sp>
      <p:sp>
        <p:nvSpPr>
          <p:cNvPr id="23" name="Text 21"/>
          <p:cNvSpPr/>
          <p:nvPr/>
        </p:nvSpPr>
        <p:spPr>
          <a:xfrm>
            <a:off x="6730901" y="3690342"/>
            <a:ext cx="497083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생산가능인구 감소와 부양 부담 급증이 동시 진행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730901" y="7037189"/>
            <a:ext cx="57150" cy="57150"/>
          </a:xfrm>
          <a:prstGeom prst="ellipse">
            <a:avLst/>
          </a:prstGeom>
          <a:solidFill>
            <a:srgbClr val="F4A830"/>
          </a:solidFill>
          <a:ln/>
        </p:spPr>
      </p:sp>
      <p:sp>
        <p:nvSpPr>
          <p:cNvPr id="25" name="Text 23"/>
          <p:cNvSpPr/>
          <p:nvPr/>
        </p:nvSpPr>
        <p:spPr>
          <a:xfrm>
            <a:off x="6883301" y="6951464"/>
            <a:ext cx="410028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C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2020년 이후 생산가능인구 감소 국면 진입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730901" y="7465814"/>
            <a:ext cx="57150" cy="57150"/>
          </a:xfrm>
          <a:prstGeom prst="ellipse">
            <a:avLst/>
          </a:prstGeom>
          <a:solidFill>
            <a:srgbClr val="F4A830"/>
          </a:solidFill>
          <a:ln/>
        </p:spPr>
      </p:sp>
      <p:sp>
        <p:nvSpPr>
          <p:cNvPr id="27" name="Text 25"/>
          <p:cNvSpPr/>
          <p:nvPr/>
        </p:nvSpPr>
        <p:spPr>
          <a:xfrm>
            <a:off x="6883301" y="7380089"/>
            <a:ext cx="329441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C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고령 인구 증가로 노년부양비 급등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730901" y="7894439"/>
            <a:ext cx="57150" cy="57150"/>
          </a:xfrm>
          <a:prstGeom prst="ellipse">
            <a:avLst/>
          </a:prstGeom>
          <a:solidFill>
            <a:srgbClr val="F4A830"/>
          </a:solidFill>
          <a:ln/>
        </p:spPr>
      </p:sp>
      <p:sp>
        <p:nvSpPr>
          <p:cNvPr id="29" name="Text 27"/>
          <p:cNvSpPr/>
          <p:nvPr/>
        </p:nvSpPr>
        <p:spPr>
          <a:xfrm>
            <a:off x="6883301" y="7808714"/>
            <a:ext cx="381914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C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연금·의료·노동시장 구조적 불균형 심화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2014150" y="2747367"/>
            <a:ext cx="5321350" cy="564237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2014150" y="2747367"/>
            <a:ext cx="5321350" cy="38100"/>
          </a:xfrm>
          <a:prstGeom prst="rect">
            <a:avLst/>
          </a:prstGeom>
          <a:solidFill>
            <a:srgbClr val="3E8EC4"/>
          </a:solidFill>
          <a:ln/>
        </p:spPr>
      </p:sp>
      <p:sp>
        <p:nvSpPr>
          <p:cNvPr id="32" name="Shape 30"/>
          <p:cNvSpPr/>
          <p:nvPr/>
        </p:nvSpPr>
        <p:spPr>
          <a:xfrm>
            <a:off x="12261800" y="3066455"/>
            <a:ext cx="457200" cy="457200"/>
          </a:xfrm>
          <a:prstGeom prst="ellipse">
            <a:avLst/>
          </a:prstGeom>
          <a:solidFill>
            <a:srgbClr val="3E8EC4"/>
          </a:solidFill>
          <a:ln/>
        </p:spPr>
      </p:sp>
      <p:sp>
        <p:nvSpPr>
          <p:cNvPr id="33" name="Text 31"/>
          <p:cNvSpPr/>
          <p:nvPr/>
        </p:nvSpPr>
        <p:spPr>
          <a:xfrm>
            <a:off x="12376100" y="3128367"/>
            <a:ext cx="3048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2852350" y="3033117"/>
            <a:ext cx="1075283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3E8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취약성</a:t>
            </a:r>
            <a:endParaRPr lang="en-US" sz="2850" dirty="0"/>
          </a:p>
        </p:txBody>
      </p:sp>
      <p:sp>
        <p:nvSpPr>
          <p:cNvPr id="35" name="Text 33"/>
          <p:cNvSpPr/>
          <p:nvPr/>
        </p:nvSpPr>
        <p:spPr>
          <a:xfrm>
            <a:off x="12261800" y="3690342"/>
            <a:ext cx="4970831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빠르게, 가장 건강하지 않고, 가장 가난하게 늙어가는 구조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2261800" y="7037189"/>
            <a:ext cx="57150" cy="57150"/>
          </a:xfrm>
          <a:prstGeom prst="ellipse">
            <a:avLst/>
          </a:prstGeom>
          <a:solidFill>
            <a:srgbClr val="3E8EC4"/>
          </a:solidFill>
          <a:ln/>
        </p:spPr>
      </p:sp>
      <p:sp>
        <p:nvSpPr>
          <p:cNvPr id="37" name="Text 35"/>
          <p:cNvSpPr/>
          <p:nvPr/>
        </p:nvSpPr>
        <p:spPr>
          <a:xfrm>
            <a:off x="12414200" y="6951464"/>
            <a:ext cx="377146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C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건강수명 격차 확대 — 유병 기간 6.5년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2261800" y="7465814"/>
            <a:ext cx="57150" cy="57150"/>
          </a:xfrm>
          <a:prstGeom prst="ellipse">
            <a:avLst/>
          </a:prstGeom>
          <a:solidFill>
            <a:srgbClr val="3E8EC4"/>
          </a:solidFill>
          <a:ln/>
        </p:spPr>
      </p:sp>
      <p:sp>
        <p:nvSpPr>
          <p:cNvPr id="39" name="Text 37"/>
          <p:cNvSpPr/>
          <p:nvPr/>
        </p:nvSpPr>
        <p:spPr>
          <a:xfrm>
            <a:off x="12414200" y="7380089"/>
            <a:ext cx="403574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C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노인빈곤율·만성질환·고독 복합 위험 증가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2261800" y="7894439"/>
            <a:ext cx="57150" cy="57150"/>
          </a:xfrm>
          <a:prstGeom prst="ellipse">
            <a:avLst/>
          </a:prstGeom>
          <a:solidFill>
            <a:srgbClr val="3E8EC4"/>
          </a:solidFill>
          <a:ln/>
        </p:spPr>
      </p:sp>
      <p:sp>
        <p:nvSpPr>
          <p:cNvPr id="41" name="Text 39"/>
          <p:cNvSpPr/>
          <p:nvPr/>
        </p:nvSpPr>
        <p:spPr>
          <a:xfrm>
            <a:off x="12414200" y="7808714"/>
            <a:ext cx="348910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C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예방 R&amp;D 및 돌봄 시스템 혁신 필요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952500" y="8618339"/>
            <a:ext cx="16383000" cy="1135261"/>
          </a:xfrm>
          <a:prstGeom prst="rect">
            <a:avLst/>
          </a:prstGeom>
          <a:solidFill>
            <a:srgbClr val="E05A1A">
              <a:alpha val="10000"/>
            </a:srgbClr>
          </a:solidFill>
          <a:ln w="9525">
            <a:solidFill>
              <a:srgbClr val="E05A1A">
                <a:alpha val="32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47775" y="9019282"/>
            <a:ext cx="175647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E0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대응 방향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3137595" y="9024045"/>
            <a:ext cx="9525" cy="323850"/>
          </a:xfrm>
          <a:prstGeom prst="rect">
            <a:avLst/>
          </a:prstGeom>
          <a:solidFill>
            <a:srgbClr val="E05A1A">
              <a:alpha val="4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3356670" y="8799314"/>
            <a:ext cx="14094062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D4D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고령화는 단일 부처(복지)의 문제가 아닌 국가 시스템 전체의 난제 — </a:t>
            </a:r>
            <a:pPr algn="l" indent="0" marL="0">
              <a:lnSpc>
                <a:spcPct val="16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기반의 정량적·정성적 R&amp;D 진단 분석 </a:t>
            </a:r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D4D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을 통한 통합 시스템 전환이 시급하다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2026-06-10T08:40:35Z</dcterms:created>
  <dcterms:modified xsi:type="dcterms:W3CDTF">2026-06-10T08:40:35Z</dcterms:modified>
</cp:coreProperties>
</file>